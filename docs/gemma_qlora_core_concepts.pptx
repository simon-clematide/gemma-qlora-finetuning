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88720"/>
            <a:ext cx="109728" cy="4389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887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DD4BF"/>
                </a:solidFill>
                <a:latin typeface="Calibri"/>
              </a:defRPr>
            </a:pPr>
            <a:r>
              <a:t>PARAMETER-EFFICIENT LLM ADAPTATION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Fine-Tuning Gemma-2-2B-IT with LoRA &amp; 4-bit QLoRA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Core Concepts: Instruction Data, Low-Rank Adapters (LoRA), and 4-bit NF4 Quantization on GermEval 2017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069080"/>
            <a:ext cx="3291840" cy="15087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spcAft>
                <a:spcPts val="6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1. DATA &amp; LOSS MASKING</a:t>
            </a:r>
          </a:p>
          <a:p>
            <a:pPr>
              <a:defRPr sz="1250">
                <a:solidFill>
                  <a:srgbClr val="FFFFFF"/>
                </a:solidFill>
                <a:latin typeface="Calibri"/>
              </a:defRPr>
            </a:pPr>
            <a:r>
              <a:t>26,209 German Customer Reviews</a:t>
            </a:r>
            <a:br/>
            <a:r>
              <a:t>JSON Schema + Completion-Only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4069080"/>
            <a:ext cx="3291840" cy="15087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spcAft>
                <a:spcPts val="600"/>
              </a:spcAft>
              <a:defRPr sz="1200" b="1">
                <a:solidFill>
                  <a:srgbClr val="0D9488"/>
                </a:solidFill>
                <a:latin typeface="Calibri"/>
              </a:defRPr>
            </a:pPr>
            <a:r>
              <a:t>2. LOW-RANK ADAPTERS (LoRA)</a:t>
            </a:r>
          </a:p>
          <a:p>
            <a:pPr>
              <a:defRPr sz="1250">
                <a:solidFill>
                  <a:srgbClr val="FFFFFF"/>
                </a:solidFill>
                <a:latin typeface="Calibri"/>
              </a:defRPr>
            </a:pPr>
            <a:r>
              <a:t>Freeze 2.61B Base Weights (99.21%)</a:t>
            </a:r>
            <a:br/>
            <a:r>
              <a:t>Train Only 20.8M Rank-16 Weights (0.79%)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069080"/>
            <a:ext cx="3291840" cy="15087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spcAft>
                <a:spcPts val="600"/>
              </a:spcAft>
              <a:defRPr sz="1200" b="1">
                <a:solidFill>
                  <a:srgbClr val="D97706"/>
                </a:solidFill>
                <a:latin typeface="Calibri"/>
              </a:defRPr>
            </a:pPr>
            <a:r>
              <a:t>3. 4-BIT NF4 QUANTIZATION (QLoRA)</a:t>
            </a:r>
          </a:p>
          <a:p>
            <a:pPr>
              <a:defRPr sz="1250">
                <a:solidFill>
                  <a:srgbClr val="FFFFFF"/>
                </a:solidFill>
                <a:latin typeface="Calibri"/>
              </a:defRPr>
            </a:pPr>
            <a:r>
              <a:t>72% Base Weight Compression (1.4 GB)</a:t>
            </a:r>
            <a:br/>
            <a:r>
              <a:t>Runs on Free Colab T4 / L4 GPUs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1. Motivation: Prompting vs. Parameter-Efficient Fine-Tuning (PEFT)</a:t>
            </a:r>
          </a:p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Why adapt a compact 2.6B open-weights model (google/gemma-2-2b-it) instead of relying on Zero/Few-Shot prompting?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2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24231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73152" cy="227685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5074920" cy="2203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34155"/>
                </a:solidFill>
                <a:latin typeface="Calibri"/>
              </a:defRPr>
            </a:pPr>
            <a:r>
              <a:t>The Limits of In-Context Prompting (Zero / Few-Shot)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Taxonomy Ambiguity: </a:t>
            </a:r>
            <a:r>
              <a:rPr b="0" sz="1300">
                <a:solidFill>
                  <a:srgbClr val="334155"/>
                </a:solidFill>
                <a:latin typeface="Calibri"/>
              </a:rPr>
              <a:t>19 domain-specific German aspect categories (Allgemein, Zugfahrt, Pünktlichkeit, Sicherheit...) require exact boundary rules.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Multi-Label Calibration: </a:t>
            </a:r>
            <a:r>
              <a:rPr b="0" sz="1300">
                <a:solidFill>
                  <a:srgbClr val="334155"/>
                </a:solidFill>
                <a:latin typeface="Calibri"/>
              </a:rPr>
              <a:t>Zero-shot models over-predict or under-predict empty sets (relevance=false -&gt; {"labels": []}).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Inference Token Overhead: </a:t>
            </a:r>
            <a:r>
              <a:rPr b="0" sz="1300">
                <a:solidFill>
                  <a:srgbClr val="334155"/>
                </a:solidFill>
                <a:latin typeface="Calibri"/>
              </a:rPr>
              <a:t>10-shot prompting prepends ~1,500 tokens to EVERY single test document, doubling latency and KV-cache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423160"/>
          </a:xfrm>
          <a:prstGeom prst="roundRect">
            <a:avLst>
              <a:gd name="adj" fmla="val 2000"/>
            </a:avLst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53312"/>
            <a:ext cx="73152" cy="22768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08176"/>
            <a:ext cx="5074920" cy="2203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97706"/>
                </a:solidFill>
                <a:latin typeface="Calibri"/>
              </a:defRPr>
            </a:pPr>
            <a:r>
              <a:t>Why Full Fine-Tuning Is Impractical for LLMs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High Memory Footprint: </a:t>
            </a:r>
            <a:r>
              <a:rPr b="0" sz="1300">
                <a:solidFill>
                  <a:srgbClr val="334155"/>
                </a:solidFill>
                <a:latin typeface="Calibri"/>
              </a:rPr>
              <a:t>Updating all 2.61B parameters in 16-bit AdamW requires ~5.2 GB weights + ~5.2 GB gradients + ~20.8 GB optimizer states (&gt;32 GB VRAM).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Catastrophic Forgetting: </a:t>
            </a:r>
            <a:r>
              <a:rPr b="0" sz="1300">
                <a:solidFill>
                  <a:srgbClr val="334155"/>
                </a:solidFill>
                <a:latin typeface="Calibri"/>
              </a:rPr>
              <a:t>Overwriting all base weights on a narrow classification schema degrades general language understanding.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Storage Cost: </a:t>
            </a:r>
            <a:r>
              <a:rPr b="0" sz="1300">
                <a:solidFill>
                  <a:srgbClr val="334155"/>
                </a:solidFill>
                <a:latin typeface="Calibri"/>
              </a:rPr>
              <a:t>Saving 10 experiment checkpoints costs ~52 GB of disk space instead of ~80 MB per adapter.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1064240" cy="251460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59352"/>
            <a:ext cx="73152" cy="2368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014215"/>
            <a:ext cx="10744200" cy="22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The Solution: Supervised Fine-Tuning (SFT) with LoRA &amp; QLoRA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Task-Specific Calibration: </a:t>
            </a:r>
            <a:r>
              <a:rPr b="0" sz="1300">
                <a:solidFill>
                  <a:srgbClr val="334155"/>
                </a:solidFill>
                <a:latin typeface="Calibri"/>
              </a:rPr>
              <a:t>Teaches exact German annotation boundaries and guaranteed JSON compliance (100.0% valid JSON on test_syn).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Massive Accuracy Jump: </a:t>
            </a:r>
            <a:r>
              <a:rPr b="0" sz="1300">
                <a:solidFill>
                  <a:srgbClr val="334155"/>
                </a:solidFill>
                <a:latin typeface="Calibri"/>
              </a:rPr>
              <a:t>Boosts Task C2 Micro-F1 from 0.258 (Zero-Shot) and 0.453 (10-Shot) up to 0.720 (LoRA / QLoRA) — a +26.7 F1 gain over 10-shot.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Zero Inference Overhead: </a:t>
            </a:r>
            <a:r>
              <a:rPr b="0" sz="1300">
                <a:solidFill>
                  <a:srgbClr val="334155"/>
                </a:solidFill>
                <a:latin typeface="Calibri"/>
              </a:rPr>
              <a:t>Trained low-rank matrices (B·A) can be merged directly into W_0 or run with compact Zero-Shot prompts (2.1x faster than 10-shot).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Single-GPU Accessibility: </a:t>
            </a:r>
            <a:r>
              <a:rPr b="0" sz="1300">
                <a:solidFill>
                  <a:srgbClr val="334155"/>
                </a:solidFill>
                <a:latin typeface="Calibri"/>
              </a:rPr>
              <a:t>Trains in ~2.9 GB peak VRAM with 4-bit NF4 QLoRA or ~7.2 GB with 16-bit bfloat16 LoRA on a single Google Colab GPU.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2. Core Concept I — Data: GermEval 2017 ABSA as Structured JSON Generation</a:t>
            </a:r>
          </a:p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Converting 26,209 German Deutsche Bahn customer feedback documents into a deterministic instruction-tuning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3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512064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73152" cy="4974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4983480" cy="4901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Dataset &amp; Task Formulation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Corpus Splits (26,209 Docs): </a:t>
            </a:r>
            <a:r>
              <a:rPr b="0" sz="1300">
                <a:solidFill>
                  <a:srgbClr val="334155"/>
                </a:solidFill>
                <a:latin typeface="Calibri"/>
              </a:rPr>
              <a:t>Train: 19,432 | Dev: 2,369 | Test Synchronic: 2,566 | Test Diachronic: 1,842 social media &amp; web comments.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Task C (Aspect–Polarity Classification): </a:t>
            </a:r>
            <a:r>
              <a:rPr b="0" sz="1300">
                <a:solidFill>
                  <a:srgbClr val="334155"/>
                </a:solidFill>
                <a:latin typeface="Calibri"/>
              </a:rPr>
              <a:t>Predict all unique (Category:polarity) pairs expressed in the document across 19 aspect categories × 3 polarities (positive, negative, neutral).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Implicit Relevance Handling: </a:t>
            </a:r>
            <a:r>
              <a:rPr b="0" sz="1300">
                <a:solidFill>
                  <a:srgbClr val="334155"/>
                </a:solidFill>
                <a:latin typeface="Calibri"/>
              </a:rPr>
              <a:t>Out-of-domain documents (relevance=false, ~21% of corpus) map cleanly to an empty JSON list: {"labels": []}.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Task D (Opinion Target Extraction): </a:t>
            </a:r>
            <a:r>
              <a:rPr b="0" sz="1300">
                <a:solidFill>
                  <a:srgbClr val="334155"/>
                </a:solidFill>
                <a:latin typeface="Calibri"/>
              </a:rPr>
              <a:t>Extract exact character-grounded target phrases (OTE) for non-Allgemein opinions alongside category and polarity.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Canonical Deduplication &amp; Sorting: </a:t>
            </a:r>
            <a:r>
              <a:rPr b="0" sz="1300">
                <a:solidFill>
                  <a:srgbClr val="334155"/>
                </a:solidFill>
                <a:latin typeface="Calibri"/>
              </a:rPr>
              <a:t>Target JSON lists are sorted alphabetically so every document has a unique, deterministic gold target string.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Zero-Preprocessing Colab Bootstrap: </a:t>
            </a:r>
            <a:r>
              <a:rPr b="0" sz="1300">
                <a:solidFill>
                  <a:srgbClr val="334155"/>
                </a:solidFill>
                <a:latin typeface="Calibri"/>
              </a:rPr>
              <a:t>All 26,209 canonical records ship as 5 MB of .jsonl.gz archives and materialize derived SFT splits in 1.5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80160"/>
            <a:ext cx="5532120" cy="242316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389888"/>
            <a:ext cx="5202936" cy="2203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60A5FA"/>
                </a:solidFill>
                <a:latin typeface="Calibri"/>
              </a:defRPr>
            </a:pPr>
            <a:r>
              <a:t>Raw GermEval 2017 XML Input Document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&lt;Document id="http://twitter.com/.../697803"&gt;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&lt;relevance&gt;true&lt;/relevance&gt;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&lt;sentiment&gt;negative&lt;/sentiment&gt;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&lt;text&gt;@DB_Bahn Mal wieder 45 Minuten Verspätung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    im ICE nach München und das WLAN geht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    auch nicht!&lt;/text&gt;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&lt;Opinions&gt;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&lt;Opinion category="Zugfahrt#Pünktlichkeit"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         polarity="negative" target="Verspätung"/&gt;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&lt;Opinion category="Sonstige_Unregelmässigkeiten"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         polarity="negative" target="WLAN"/&gt;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&lt;/Opinions&gt;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&lt;/Document&gt;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886200"/>
            <a:ext cx="5532120" cy="2514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3995928"/>
            <a:ext cx="5202936" cy="22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60A5FA"/>
                </a:solidFill>
                <a:latin typeface="Calibri"/>
              </a:defRPr>
            </a:pPr>
            <a:r>
              <a:t>Derived Task C &amp; Task D JSON Completion Targets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# Task C Target Completion (Sorted Set of Category:polarity):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"labels": [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"Sonstige_Unregelmässigkeiten:negative",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"Zugfahrt:negative"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]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# Task D Target Completion (Explicit Target Spans):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"targets": [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{"category": "Zugfahrt", "polarity": "negative",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"target": "Verspätung"},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{"category": "Sonstige_Unregelmässigkeiten",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"polarity": "negative", "target": "WLAN"}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]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3. Core Concept I — Data: Chat Template &amp; Completion-Only Loss Masking</a:t>
            </a:r>
          </a:p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Why masking prompt tokens with -100 in SFTTrainer is essential when prompts are ~50x longer than JSON completions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4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233172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89888"/>
            <a:ext cx="10735056" cy="2112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60A5FA"/>
                </a:solidFill>
                <a:latin typeface="Calibri"/>
              </a:defRPr>
            </a:pPr>
            <a:r>
              <a:t>Token Stream &amp; Label Masking Inside trl.SFTTrainer (completion_only_loss=True)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Input IDs :  &lt;bos&gt; &lt;start_of_turn&gt;user\n [ ~860 Guideline &amp; Review Tokens ] &lt;end_of_turn&gt;\n &lt;start_of_turn&gt;model\n {"labels": ["Zugfahrt:negative"]} &lt;end_of_turn&gt;\n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Labels    :  -100       -100                             -100                    -100            -100        -100   "{"  "labels" ... "Zugfahrt:negative" "]}" &lt;end_of_turn&gt;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         └───────────────────────────────────────────────────┬───────────────────────────────────────────────┘  └──────────────────────┬──────────────────────┘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                                  MASKED OUT (PyTorch ignore_index = -100)                                            ACTIVE CROSS-ENTROPY LOSS (~15-25 Tokens)</a:t>
            </a:r>
          </a:p>
          <a:p>
            <a:pPr>
              <a:spcAft>
                <a:spcPts val="100"/>
              </a:spcAft>
              <a:defRPr sz="1050">
                <a:solidFill>
                  <a:srgbClr val="E2E8F0"/>
                </a:solidFill>
                <a:latin typeface="Courier New"/>
              </a:defRPr>
            </a:pPr>
            <a:r>
              <a:t>                                    0% of Gradient Signal (Never memorize prompt!)                                     100% of Backprop Updates LoRA Matrices A &amp;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394960" cy="25603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13632"/>
            <a:ext cx="73152" cy="24140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68496"/>
            <a:ext cx="5074920" cy="2340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Gemma-2-2B-IT Native Turn Formatting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No Separate System Role: </a:t>
            </a:r>
            <a:r>
              <a:rPr b="0" sz="1300">
                <a:solidFill>
                  <a:srgbClr val="334155"/>
                </a:solidFill>
                <a:latin typeface="Calibri"/>
              </a:rPr>
              <a:t>Gemma-2 only supports alternating user and model turns wrapped in &lt;start_of_turn&gt; and &lt;end_of_turn&gt;.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Unified Instruction Block: </a:t>
            </a:r>
            <a:r>
              <a:rPr b="0" sz="1300">
                <a:solidFill>
                  <a:srgbClr val="334155"/>
                </a:solidFill>
                <a:latin typeface="Calibri"/>
              </a:rPr>
              <a:t>We merge the German task guidelines, the 19 category definitions, and the input review into the user turn.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Train-Test Parity: </a:t>
            </a:r>
            <a:r>
              <a:rPr b="0" sz="1300">
                <a:solidFill>
                  <a:srgbClr val="334155"/>
                </a:solidFill>
                <a:latin typeface="Calibri"/>
              </a:rPr>
              <a:t>The exact same prompt wrapper (format_gemma_chat_string) is used during Zero-Shot evaluation and SFT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394960" cy="256032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913632"/>
            <a:ext cx="73152" cy="241401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3968496"/>
            <a:ext cx="5074920" cy="23408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Why Completion-Only Loss Matters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50:1 Length Asymmetry: </a:t>
            </a:r>
            <a:r>
              <a:rPr b="0" sz="1300">
                <a:solidFill>
                  <a:srgbClr val="334155"/>
                </a:solidFill>
                <a:latin typeface="Calibri"/>
              </a:rPr>
              <a:t>The German guideline prompt is ~860 tokens long, while the target JSON output is only ~15–25 tokens.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Without Masking: </a:t>
            </a:r>
            <a:r>
              <a:rPr b="0" sz="1300">
                <a:solidFill>
                  <a:srgbClr val="334155"/>
                </a:solidFill>
                <a:latin typeface="Calibri"/>
              </a:rPr>
              <a:t>97% of gradient updates would be wasted teaching the model to predict our static German instructions.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With Masking (labels = -100): </a:t>
            </a:r>
            <a:r>
              <a:rPr b="0" sz="1300">
                <a:solidFill>
                  <a:srgbClr val="334155"/>
                </a:solidFill>
                <a:latin typeface="Calibri"/>
              </a:rPr>
              <a:t>PyTorch CrossEntropyLoss ignores all positions with label -100, focusing 100% of adapter capacity on JSON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4. Core Concept II — Low-Rank Adaptation (LoRA) Architecture</a:t>
            </a:r>
          </a:p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Injecting trainable rank-16 bottleneck matrices (A, B) in parallel with frozen pretrained weights W_0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5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760720" cy="512064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389888"/>
            <a:ext cx="5431536" cy="4901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50" b="1">
                <a:solidFill>
                  <a:srgbClr val="60A5FA"/>
                </a:solidFill>
                <a:latin typeface="Calibri"/>
              </a:defRPr>
            </a:pPr>
            <a:r>
              <a:t>Inside Every Linear Projection Layer: Frozen W_0 + LoRA Bypass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       Output Activation: h = h_base + (alpha / r) * h_lora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                              ▲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                             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                             (+)  ◄── Elementwise Sum (bfloat16)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                            ╱   ╲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┌──────────────────────────┘     └─────────────────────────┐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│  h_base = W_0 * x               h_lora = B * (A * x)    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┌──────┴──────────────────────┐           ┌───────────────────────┴──────┐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│   FROZEN BASE WEIGHT W_0    │           │  TRAINABLE LoRA ADAPTER B·A 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│ • Shape: [d_out x d_in]     │           │ • Matrix B: [d_out x r=16]  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│ • 16-bit bf16 OR 4-bit NF4  │           │   (Initialized to zeros: 0) 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│ • requires_grad = False     │           │ • Matrix A: [r=16 x d_in]   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│ • 0 optimizer states        │           │   (Initialized ~ N(0, sigma²))│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│ • Preserves pretrained      │           │ • Always in 16-bit bfloat16 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│   German language knowledge │           │ • Updated by AdamW optimizer │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└──────▲──────────────────────┘           └───────────────▲──────────────┘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└──────────────────────────┐     ┌─────────────────┘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                            ╲   ╱</a:t>
            </a:r>
          </a:p>
          <a:p>
            <a:pPr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                           Input Activation x (bfloat16)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80160"/>
            <a:ext cx="5120640" cy="512064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353312"/>
            <a:ext cx="73152" cy="4974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1408176"/>
            <a:ext cx="4800600" cy="4901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How LoRA Works Mathematically &amp; Architecturally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The Forward Pass Equation: </a:t>
            </a:r>
            <a:r>
              <a:rPr b="0" sz="1300">
                <a:solidFill>
                  <a:srgbClr val="334155"/>
                </a:solidFill>
                <a:latin typeface="Calibri"/>
              </a:rPr>
              <a:t>h = W_0 x + (α / r) · B · A · x, where r = 16 is the rank and α = 32 is the scaling factor (α/r = 2.0).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Safe Zero-Initialization: </a:t>
            </a:r>
            <a:r>
              <a:rPr b="0" sz="1300">
                <a:solidFill>
                  <a:srgbClr val="334155"/>
                </a:solidFill>
                <a:latin typeface="Calibri"/>
              </a:rPr>
              <a:t>Matrix A is sampled from a Gaussian; Matrix B is initialized to 0. At step 0, B·A = 0, so the model behaves identically to the pretrained base model.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All 7 Linear Projections Modified per Block: </a:t>
            </a:r>
            <a:r>
              <a:rPr b="0" sz="1300">
                <a:solidFill>
                  <a:srgbClr val="334155"/>
                </a:solidFill>
                <a:latin typeface="Calibri"/>
              </a:rPr>
              <a:t>In each of the 26 Gemma-2 transformer layers, we attach LoRA to Attention (q_proj, k_proj, v_proj, o_proj) and GeGLU MLP (gate_proj, up_proj, down_proj).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99.21% Parameter Reduction: </a:t>
            </a:r>
            <a:r>
              <a:rPr b="0" sz="1300">
                <a:solidFill>
                  <a:srgbClr val="334155"/>
                </a:solidFill>
                <a:latin typeface="Calibri"/>
              </a:rPr>
              <a:t>Frozen Base Parameters: 2,614,341,888 (99.21%) vs. Trainable LoRA Parameters: 20,766,720 (0.79% = 798,720 per layer × 26 layers).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Tiny Disk Checkpoints: </a:t>
            </a:r>
            <a:r>
              <a:rPr b="0" sz="1300">
                <a:solidFill>
                  <a:srgbClr val="334155"/>
                </a:solidFill>
                <a:latin typeface="Calibri"/>
              </a:rPr>
              <a:t>Only the 20.8M adapter parameters (~41 MB in bf16) are saved to models/adapters/, making version control and deployment effortless.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5. Core Concept III — 4-bit NormalFloat Quantization (QLoRA)</a:t>
            </a:r>
          </a:p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How Dettmers et al. (2023) compress frozen base weights by 72% while keeping gradients in 16-bit precision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6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566160" cy="5120640"/>
          </a:xfrm>
          <a:prstGeom prst="roundRect">
            <a:avLst>
              <a:gd name="adj" fmla="val 2000"/>
            </a:avLst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73152" cy="4974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08176"/>
            <a:ext cx="3246120" cy="4901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97706"/>
                </a:solidFill>
                <a:latin typeface="Calibri"/>
              </a:defRPr>
            </a:pPr>
            <a:r>
              <a:t>1. 4-Bit NormalFloat (NF4)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Information-Theoretic Optimal: </a:t>
            </a:r>
            <a:r>
              <a:rPr b="0" sz="1300">
                <a:solidFill>
                  <a:srgbClr val="334155"/>
                </a:solidFill>
                <a:latin typeface="Calibri"/>
              </a:rPr>
              <a:t>Pretrained neural network weights follow a zero-centered normal (Gaussian) distribution.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Equal-Mass Quantiles: </a:t>
            </a:r>
            <a:r>
              <a:rPr b="0" sz="1300">
                <a:solidFill>
                  <a:srgbClr val="334155"/>
                </a:solidFill>
                <a:latin typeface="Calibri"/>
              </a:rPr>
              <a:t>NF4 places its 16 quantization bins (2^4 = 16 levels) so each bin covers an equal area under N(0, 1).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Higher Fidelity Near Zero: </a:t>
            </a:r>
            <a:r>
              <a:rPr b="0" sz="1300">
                <a:solidFill>
                  <a:srgbClr val="334155"/>
                </a:solidFill>
                <a:latin typeface="Calibri"/>
              </a:rPr>
              <a:t>Concentrates resolution around 0 where most weights live, outperforming uniform 4-bit integer (FP4/INT4).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Blockwise Scaling: </a:t>
            </a:r>
            <a:r>
              <a:rPr b="0" sz="1300">
                <a:solidFill>
                  <a:srgbClr val="334155"/>
                </a:solidFill>
                <a:latin typeface="Calibri"/>
              </a:rPr>
              <a:t>Weights are normalized in blocks of 64 values so outlier weights don't distort the entire tensor.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51206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53312"/>
            <a:ext cx="73152" cy="4974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408176"/>
            <a:ext cx="3246120" cy="4901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2. Double Quantization (DQ)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Quantizing the Scales: </a:t>
            </a:r>
            <a:r>
              <a:rPr b="0" sz="1300">
                <a:solidFill>
                  <a:srgbClr val="334155"/>
                </a:solidFill>
                <a:latin typeface="Calibri"/>
              </a:rPr>
              <a:t>Every block of 64 weights needs a scaling constant c_1. In 32-bit float, those constants add 0.5 bits per parameter.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Second-Stage Compression: </a:t>
            </a:r>
            <a:r>
              <a:rPr b="0" sz="1300">
                <a:solidFill>
                  <a:srgbClr val="334155"/>
                </a:solidFill>
                <a:latin typeface="Calibri"/>
              </a:rPr>
              <a:t>Double quantization (bnb_4bit_use_double_quant=True) quantizes the scaling constants themselves into 8-bit floats (FP8) in blocks of 256.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Memory Saved: </a:t>
            </a:r>
            <a:r>
              <a:rPr b="0" sz="1300">
                <a:solidFill>
                  <a:srgbClr val="334155"/>
                </a:solidFill>
                <a:latin typeface="Calibri"/>
              </a:rPr>
              <a:t>Reduces scaling overhead from 0.5 bits/param down to 0.127 bits/param (~0.37 bits saved per weight across 2.6B params).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566160" cy="5120640"/>
          </a:xfrm>
          <a:prstGeom prst="roundRect">
            <a:avLst>
              <a:gd name="adj" fmla="val 2000"/>
            </a:avLst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53312"/>
            <a:ext cx="73152" cy="4974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08176"/>
            <a:ext cx="3246120" cy="49011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3. Storage vs. Compute Dtype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Storage Dtype = 4-bit NF4: </a:t>
            </a:r>
            <a:r>
              <a:rPr b="0" sz="1300">
                <a:solidFill>
                  <a:srgbClr val="334155"/>
                </a:solidFill>
                <a:latin typeface="Calibri"/>
              </a:rPr>
              <a:t>The 2.61B frozen base weights W_0 sit in GPU VRAM in 4-bit NF4 format (~1.4 GB instead of ~5.0 GB).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Compute Dtype = 16-bit bf16: </a:t>
            </a:r>
            <a:r>
              <a:rPr b="0" sz="1300">
                <a:solidFill>
                  <a:srgbClr val="334155"/>
                </a:solidFill>
                <a:latin typeface="Calibri"/>
              </a:rPr>
              <a:t>During forward &amp; backward passes, W_0 blocks are dequantized on-the-fly to 16-bit bfloat16 for matrix multiplication.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16-bit LoRA Gradients: </a:t>
            </a:r>
            <a:r>
              <a:rPr b="0" sz="1300">
                <a:solidFill>
                  <a:srgbClr val="334155"/>
                </a:solidFill>
                <a:latin typeface="Calibri"/>
              </a:rPr>
              <a:t>LoRA adapters (A, B) are NEVER quantized—they stay in 16-bit bfloat16 so gradient updates lose zero precision.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6. Head-to-Head: 16-bit bfloat16 LoRA vs. 4-bit NF4 QLoRA</a:t>
            </a:r>
          </a:p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Architectural, hardware, and performance comparison on google/gemma-2-2b-it (GermEval 2017 Task 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7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110944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815"/>
                <a:gridCol w="2560320"/>
                <a:gridCol w="2834640"/>
                <a:gridCol w="2834640"/>
              </a:tblGrid>
              <a:tr h="49149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 / Metric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 Fine-Tuning (Reference)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16-bit LoRA (configs/lora.yaml)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4-bit QLoRA (configs/qlora.yaml)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Frozen Base Weights (W_0)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(All 2.61B updated)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16-bit bfloat16 (~5.0 GB VRAM)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4-bit NF4 + Double Quant (~1.4 GB)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Trainable Parameters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2,614,341,888 (100%)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20,766,720 (0.79%, r=16, α=32)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20,766,720 (0.79%, r=16, α=32)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Adapter &amp; Compute Dtype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16-bit bfloat16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16-bit bfloat16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16-bit bfloat16 (on-the-fly dequant)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Peak Training VRAM (Gemma-2-2B)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&gt; 32.0 GB (OOM on L4/T4)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7.2 GB (Fits L4 24GB &amp; T4 15GB)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2.9 GB (Fits even 8GB consumer GPU)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Step Latency Overhead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Baseline (1.0x)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Fastest PEFT (No dequantization)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~15–20% slower (NF4 dequant kernel)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Task C2 Strict Micro-F1 (test_syn)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0.7204 (95% CI: [0.706, 0.735])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0.7191 (Δ = -0.0013, indistinguishable)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JSON Schema Validity (test_syn)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100.0% VALID_EXACT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100.0% VALID_EXACT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40680"/>
            <a:ext cx="11094415" cy="1005840"/>
          </a:xfrm>
          <a:prstGeom prst="roundRect">
            <a:avLst>
              <a:gd name="adj" fmla="val 2000"/>
            </a:avLst>
          </a:prstGeom>
          <a:solidFill>
            <a:srgbClr val="FFFB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5513832"/>
            <a:ext cx="73152" cy="8595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568696"/>
            <a:ext cx="10774375" cy="78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D97706"/>
                </a:solidFill>
                <a:latin typeface="Calibri"/>
              </a:defRPr>
            </a:pPr>
            <a:r>
              <a:t>Practical Takeaway for Google Colab (Notebook 11)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0F172A"/>
                </a:solidFill>
                <a:latin typeface="Calibri"/>
              </a:rPr>
              <a:t>• Single-Flag Toggle in Step 3: </a:t>
            </a:r>
            <a:r>
              <a:rPr b="0" sz="1200">
                <a:solidFill>
                  <a:srgbClr val="334155"/>
                </a:solidFill>
                <a:latin typeface="Calibri"/>
              </a:rPr>
              <a:t>Set USE_4BIT_QUANTIZATION = True (default) for 4-bit NF4 QLoRA (~2.9 GB VRAM), or USE_4BIT_QUANTIZATION = False for 16-bit bfloat16 LoRA (~7.2 GB VRAM). Both achieve ~0.720 Micro-F1 on GermEval 2017 Task C2!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Calibri"/>
              </a:defRPr>
            </a:pPr>
            <a:r>
              <a:t>7. Empirical Results &amp; Key Takeaways on GermEval 2017</a:t>
            </a:r>
          </a:p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Summary across Prompting Baselines, 16-bit LoRA, and 4-bit QLoRA on Synchronic (test_syn) &amp; Diachronic (test_dia)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8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25880"/>
          <a:ext cx="6675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097280"/>
                <a:gridCol w="1097280"/>
                <a:gridCol w="1097280"/>
              </a:tblGrid>
              <a:tr h="496388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 / Run ID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 JSON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C1 Micro-F1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C2 Micro-F1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Dia C2 F1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P0 Minimal Zero-Shot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P1 Guideline Zero-Shot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95.8%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0.368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0.258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0.244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P2 Few-Shot (2-Shot)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P3 Optimized 10-Shot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99.4%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0.569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0.453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0.438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L1 16-bit LoRA (r=16)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0.781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0.720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0.698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Q1 4-bit QLoRA (r=16)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0.779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0.719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D9488"/>
                          </a:solidFill>
                          <a:latin typeface="Calibri"/>
                        </a:defRPr>
                      </a:pPr>
                      <a:r>
                        <a:t>0.696</a:t>
                      </a:r>
                    </a:p>
                  </a:txBody>
                  <a:tcPr anchor="ctr"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06640" y="1325880"/>
            <a:ext cx="4206240" cy="34747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399032"/>
            <a:ext cx="73152" cy="332841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07808" y="1453895"/>
            <a:ext cx="3886200" cy="3255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Calibri"/>
              </a:defRPr>
            </a:pPr>
            <a:r>
              <a:t>Sample Efficiency (Q2 Learning Curve)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N = 250 docs (1.3%): </a:t>
            </a:r>
            <a:r>
              <a:rPr b="0" sz="1300">
                <a:solidFill>
                  <a:srgbClr val="334155"/>
                </a:solidFill>
                <a:latin typeface="Calibri"/>
              </a:rPr>
              <a:t>0.512 C2 Micro-F1 — already beats 10-shot prompting (0.453)!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N = 1,000 docs (5.1%): </a:t>
            </a:r>
            <a:r>
              <a:rPr b="0" sz="1300">
                <a:solidFill>
                  <a:srgbClr val="334155"/>
                </a:solidFill>
                <a:latin typeface="Calibri"/>
              </a:rPr>
              <a:t>0.609 C2 Micro-F1 — trains in &lt;5 minutes on Colab L4.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N = 5,000 docs (25.7%): </a:t>
            </a:r>
            <a:r>
              <a:rPr b="0" sz="1300">
                <a:solidFill>
                  <a:srgbClr val="334155"/>
                </a:solidFill>
                <a:latin typeface="Calibri"/>
              </a:rPr>
              <a:t>0.684 C2 Micro-F1 — captures 95% of full-data performance.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300">
                <a:solidFill>
                  <a:srgbClr val="0F172A"/>
                </a:solidFill>
                <a:latin typeface="Calibri"/>
              </a:rPr>
              <a:t>• N = 19,432 docs (100%): </a:t>
            </a:r>
            <a:r>
              <a:rPr b="0" sz="1300">
                <a:solidFill>
                  <a:srgbClr val="334155"/>
                </a:solidFill>
                <a:latin typeface="Calibri"/>
              </a:rPr>
              <a:t>0.719 C2 Micro-F1 — full convergence across all 19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83480"/>
            <a:ext cx="11064240" cy="14630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056632"/>
            <a:ext cx="73152" cy="131673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11496"/>
            <a:ext cx="10744200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Summary of Core Concepts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0F172A"/>
                </a:solidFill>
                <a:latin typeface="Calibri"/>
              </a:rPr>
              <a:t>• 1. Data &amp; Loss Masking: </a:t>
            </a:r>
            <a:r>
              <a:rPr b="0" sz="1200">
                <a:solidFill>
                  <a:srgbClr val="334155"/>
                </a:solidFill>
                <a:latin typeface="Calibri"/>
              </a:rPr>
              <a:t>Deterministic JSON targets + Completion-Only Loss (labels = -100 on prompt tokens) focus 100% of gradient updates on structured prediction.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0F172A"/>
                </a:solidFill>
                <a:latin typeface="Calibri"/>
              </a:rPr>
              <a:t>• 2. Low-Rank Adapters (LoRA): </a:t>
            </a:r>
            <a:r>
              <a:rPr b="0" sz="1200">
                <a:solidFill>
                  <a:srgbClr val="334155"/>
                </a:solidFill>
                <a:latin typeface="Calibri"/>
              </a:rPr>
              <a:t>Training just 0.79% of parameters (r=16 across all 7 attention/MLP projections) unlocks +26.7 Micro-F1 over 10-shot prompting.</a:t>
            </a:r>
          </a:p>
          <a:p>
            <a:pPr>
              <a:spcAft>
                <a:spcPts val="400"/>
              </a:spcAft>
              <a:defRPr>
                <a:latin typeface="Calibri"/>
              </a:defRPr>
            </a:pPr>
            <a:r>
              <a:rPr b="1" sz="1200">
                <a:solidFill>
                  <a:srgbClr val="0F172A"/>
                </a:solidFill>
                <a:latin typeface="Calibri"/>
              </a:rPr>
              <a:t>• 3. 4-Bit NF4 Quantization (QLoRA): </a:t>
            </a:r>
            <a:r>
              <a:rPr b="0" sz="1200">
                <a:solidFill>
                  <a:srgbClr val="334155"/>
                </a:solidFill>
                <a:latin typeface="Calibri"/>
              </a:rPr>
              <a:t>Cuts peak training VRAM from 7.2 GB to 2.9 GB with virtually zero accuracy loss (0.7191 vs. 0.7204 F1).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