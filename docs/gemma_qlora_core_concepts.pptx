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9728" cy="4297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10241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DD4BF"/>
                </a:solidFill>
                <a:latin typeface="Calibri"/>
              </a:defRPr>
            </a:pPr>
            <a:r>
              <a:t>PARAMETER-EFFICIENT LLM ADAPTATION</a:t>
            </a:r>
          </a:p>
          <a:p>
            <a:pPr>
              <a:spcAft>
                <a:spcPts val="100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Fine-Tuning Gemma-2-2B-IT with LoRA &amp; QLoRA</a:t>
            </a:r>
          </a:p>
          <a:p>
            <a:pPr>
              <a:defRPr sz="2000">
                <a:solidFill>
                  <a:srgbClr val="94A3B8"/>
                </a:solidFill>
                <a:latin typeface="Calibri"/>
              </a:defRPr>
            </a:pPr>
            <a:r>
              <a:t>Core Concepts: Instruction Data, Low-Rank Adapters, and 4-bit Quantization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023360"/>
            <a:ext cx="324612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1. DATA &amp; LOSS MASKING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GermEval 2017 Reviews → JSON</a:t>
            </a:r>
            <a:br/>
            <a:r>
              <a:t>Completion-Only Loss (-100)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4023360"/>
            <a:ext cx="324612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2. LOW-RANK ADAPTERS (LoRA)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Freeze 99.2% Base Weights</a:t>
            </a:r>
            <a:br/>
            <a:r>
              <a:t>Train Only 0.8% Rank-16 Weights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4023360"/>
            <a:ext cx="324612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3. 4-BIT QUANTIZATION (QLoRA)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72% Base Weight Compression</a:t>
            </a:r>
            <a:br/>
            <a:r>
              <a:t>Trains in 2.9 GB VRAM on Colab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1. Motivation: Why Parameter-Efficient Fine-Tuning?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Comparing Prompting, Full Fine-Tuning, and LoRA/QLoRA on Gemma-2-2B-IT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2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82296" cy="45720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334155"/>
                </a:solidFill>
                <a:latin typeface="Calibri"/>
              </a:defRPr>
            </a:pPr>
            <a:r>
              <a:t>In-Context Prompting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Hard Domain Rules: </a:t>
            </a:r>
            <a:r>
              <a:rPr b="0" sz="1500">
                <a:solidFill>
                  <a:srgbClr val="334155"/>
                </a:solidFill>
                <a:latin typeface="Calibri"/>
              </a:rPr>
              <a:t>19 German aspect categories have subtle annotation boundaries.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Accuracy Ceiling: </a:t>
            </a:r>
            <a:r>
              <a:rPr b="0" sz="1500">
                <a:solidFill>
                  <a:srgbClr val="334155"/>
                </a:solidFill>
                <a:latin typeface="Calibri"/>
              </a:rPr>
              <a:t>Zero-shot reaches 0.587 C2 F1; even 10-shot plateaus at 0.703 F1.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High Token Cost: </a:t>
            </a:r>
            <a:r>
              <a:rPr b="0" sz="1500">
                <a:solidFill>
                  <a:srgbClr val="334155"/>
                </a:solidFill>
                <a:latin typeface="Calibri"/>
              </a:rPr>
              <a:t>10-shot prepends ~1,760 tokens per document (2.7x more tokens).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554480"/>
            <a:ext cx="82296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D97706"/>
                </a:solidFill>
                <a:latin typeface="Calibri"/>
              </a:defRPr>
            </a:pPr>
            <a:r>
              <a:t>Full Fine-Tuning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&gt;32 GB VRAM Needed: </a:t>
            </a:r>
            <a:r>
              <a:rPr b="0" sz="1500">
                <a:solidFill>
                  <a:srgbClr val="334155"/>
                </a:solidFill>
                <a:latin typeface="Calibri"/>
              </a:rPr>
              <a:t>Updating all 2.61B weights + AdamW states overflows consumer GPUs.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Catastrophic Forgetting: </a:t>
            </a:r>
            <a:r>
              <a:rPr b="0" sz="1500">
                <a:solidFill>
                  <a:srgbClr val="334155"/>
                </a:solidFill>
                <a:latin typeface="Calibri"/>
              </a:rPr>
              <a:t>Overwriting all weights risks degrading general German fluency.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5 GB Checkpoints: </a:t>
            </a:r>
            <a:r>
              <a:rPr b="0" sz="1500">
                <a:solidFill>
                  <a:srgbClr val="334155"/>
                </a:solidFill>
                <a:latin typeface="Calibri"/>
              </a:rPr>
              <a:t>Every saved experiment copies the entire 2.61B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82296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LoRA &amp; QLoRA (Ours)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+14.5 F1 over 10-Shot: </a:t>
            </a:r>
            <a:r>
              <a:rPr b="0" sz="1500">
                <a:solidFill>
                  <a:srgbClr val="334155"/>
                </a:solidFill>
                <a:latin typeface="Calibri"/>
              </a:rPr>
              <a:t>Jumps from 0.587 (0-shot) &amp; 0.703 (10-shot) to 0.849 Micro-F1.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100% Valid JSON: </a:t>
            </a:r>
            <a:r>
              <a:rPr b="0" sz="1500">
                <a:solidFill>
                  <a:srgbClr val="334155"/>
                </a:solidFill>
                <a:latin typeface="Calibri"/>
              </a:rPr>
              <a:t>Learns the exact output schema without post-processing hacks.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Tiny Memory &amp; Disk: </a:t>
            </a:r>
            <a:r>
              <a:rPr b="0" sz="1500">
                <a:solidFill>
                  <a:srgbClr val="334155"/>
                </a:solidFill>
                <a:latin typeface="Calibri"/>
              </a:rPr>
              <a:t>Trains in 2.9 GB VRAM (QLoRA); saves 41 MB adapter 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2. Core Concept I — Data: GermEval 2017 to Structured JSON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26,209 Deutsche Bahn customer reviews converted into deterministic JSON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3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120640" cy="475488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82296" cy="457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470915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Task C: Aspect–Polarity Classification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Dataset Splits: </a:t>
            </a:r>
            <a:r>
              <a:rPr b="0" sz="1500">
                <a:solidFill>
                  <a:srgbClr val="334155"/>
                </a:solidFill>
                <a:latin typeface="Calibri"/>
              </a:rPr>
              <a:t>19,432 Train | 2,369 Dev | 2,566 Test (Syn) | 1,842 Test (Dia).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Label Space: </a:t>
            </a:r>
            <a:r>
              <a:rPr b="0" sz="1500">
                <a:solidFill>
                  <a:srgbClr val="334155"/>
                </a:solidFill>
                <a:latin typeface="Calibri"/>
              </a:rPr>
              <a:t>19 aspect categories × 3 polarities (positive, negative, neutral).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Out-of-Domain Posts: </a:t>
            </a:r>
            <a:r>
              <a:rPr b="0" sz="1500">
                <a:solidFill>
                  <a:srgbClr val="334155"/>
                </a:solidFill>
                <a:latin typeface="Calibri"/>
              </a:rPr>
              <a:t>relevance=false (21% of docs) maps cleanly to {"labels": []}.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Deterministic Order: </a:t>
            </a:r>
            <a:r>
              <a:rPr b="0" sz="1500">
                <a:solidFill>
                  <a:srgbClr val="334155"/>
                </a:solidFill>
                <a:latin typeface="Calibri"/>
              </a:rPr>
              <a:t>Labels are deduplicated and sorted alphabetically for stable 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5486400" cy="22402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4496" y="1627632"/>
            <a:ext cx="5047488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Input: Raw Customer Review (XML)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"@DB_Bahn Mal wieder 45 Minuten Verspätung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im ICE nach München und das WLAN geht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auch nicht!"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Gold Annotations: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• Zugfahrt#Pünktlichkeit -&gt; negative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• Sonstige_Unregelmässigkeiten -&gt; negative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977639"/>
            <a:ext cx="5486400" cy="22402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4142231"/>
            <a:ext cx="5047488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Output: Deterministic SFT Target (JSON)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"labels": [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"Sonstige_Unregelmässigkeiten:negative",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"Zugfahrt:negative"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]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3. Core Concept I — Data: Completion-Only Loss Masking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Focusing 100% of gradient updates on the JSON answer via labels = -100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4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881360" cy="210312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27632"/>
            <a:ext cx="10442448" cy="18105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Token Sequence Inside trl.SFTTrainer (completion_only_loss=True)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Tokens : &lt;bos&gt; &lt;start_of_turn&gt;user ... [~660 Prompt Tokens] ... &lt;start_of_turn&gt;model\n {"labels": ["Zugfahrt:negative"]} &lt;end_of_turn&gt;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Labels : -100       -100                      -100                   -100        -100   "{"  "labels" ... "Zugfahrt:negative" "]}" &lt;end_of_turn&gt;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         └──────────────────────────────────────┬────────────────────────────────────┘  └──────────────────────┬──────────────────────┘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                            IGNORED BY LOSS (PyTorch ignore_index = -100)                          ACTIVE CROSS-ENTROPY LOSS (~20 Tokens)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5257800" cy="2377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82296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023360"/>
            <a:ext cx="48463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The 35:1 Token Asymmetry Problem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Long Prompt (~660 tokens): </a:t>
            </a:r>
            <a:r>
              <a:rPr b="0" sz="1500">
                <a:solidFill>
                  <a:srgbClr val="334155"/>
                </a:solidFill>
                <a:latin typeface="Calibri"/>
              </a:rPr>
              <a:t>Contains static task rules, 19 categories, and review text.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Short Answer (~20 tokens): </a:t>
            </a:r>
            <a:r>
              <a:rPr b="0" sz="1500">
                <a:solidFill>
                  <a:srgbClr val="334155"/>
                </a:solidFill>
                <a:latin typeface="Calibri"/>
              </a:rPr>
              <a:t>Contains only the compact JSON classification.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3931920"/>
            <a:ext cx="82296" cy="2194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4023360"/>
            <a:ext cx="48463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Why Masking Prompt Tokens Works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Zero Wasted Capacity: </a:t>
            </a:r>
            <a:r>
              <a:rPr b="0" sz="1500">
                <a:solidFill>
                  <a:srgbClr val="334155"/>
                </a:solidFill>
                <a:latin typeface="Calibri"/>
              </a:rPr>
              <a:t>Adapter never wastes gradients memorizing the German prompt.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Fast Convergence: </a:t>
            </a:r>
            <a:r>
              <a:rPr b="0" sz="1500">
                <a:solidFill>
                  <a:srgbClr val="334155"/>
                </a:solidFill>
                <a:latin typeface="Calibri"/>
              </a:rPr>
              <a:t>100% of backpropagation directly optimizes JSON label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4. Core Concept II — Low-Rank Adaptation (LoRA)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Freezing 2.61B base weights and training rank-16 bypass matrices (A,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5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577840" cy="47548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27632"/>
            <a:ext cx="5138927" cy="4462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LoRA Bypass Inside Every Linear Layer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Output: h = W_0·x + (alpha / r) · B·(A·x)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  ▲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 (+)  ◄── Sum in bfloat16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╱   ╲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┌──────────────────┘     └──────────────────┐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┌─────┴───────────────────┐   ┌───────────────────┴─────┐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 FROZEN BASE WEIGHT W_0 │   │  TRAINABLE LoRA (B · A)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[d_out x d_in]        │   │ • B: [d_out x 16] (= 0)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16-bit OR 4-bit NF4   │   │ • A: [16 x d_in]  (~ N)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requires_grad = False │   │ • requires_grad = True 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0 optimizer states    │   │ • Updated by AdamW     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└─────▲───────────────────┘   └───────────────────▲─────┘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└──────────────────┐     ┌──────────────────┘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╲   ╱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Input Activation 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029200" cy="47548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82296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16459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Key Properties of Our LoRA Setup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Low-Rank Bottleneck: </a:t>
            </a:r>
            <a:r>
              <a:rPr b="0" sz="1500">
                <a:solidFill>
                  <a:srgbClr val="334155"/>
                </a:solidFill>
                <a:latin typeface="Calibri"/>
              </a:rPr>
              <a:t>Rank r = 16, scaling α = 32 (α/r = 2.0).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Safe Initialization: </a:t>
            </a:r>
            <a:r>
              <a:rPr b="0" sz="1500">
                <a:solidFill>
                  <a:srgbClr val="334155"/>
                </a:solidFill>
                <a:latin typeface="Calibri"/>
              </a:rPr>
              <a:t>B = 0 at step 0, so training starts strictly from the exact base model.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All 7 Projections Adapted: </a:t>
            </a:r>
            <a:r>
              <a:rPr b="0" sz="1500">
                <a:solidFill>
                  <a:srgbClr val="334155"/>
                </a:solidFill>
                <a:latin typeface="Calibri"/>
              </a:rPr>
              <a:t>Applied to Attention (q, k, v, o) and MLP (gate, up, down) across all 26 layers.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99.21% Parameter Savings: </a:t>
            </a:r>
            <a:r>
              <a:rPr b="0" sz="1500">
                <a:solidFill>
                  <a:srgbClr val="334155"/>
                </a:solidFill>
                <a:latin typeface="Calibri"/>
              </a:rPr>
              <a:t>Only 20.8M trainable weights vs. 2.61B frozen base weights.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5. Core Concept III — 4-bit Quantization (QLoRA)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Compressing frozen base weights by 72% while keeping gradients in 16-bit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6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82296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D97706"/>
                </a:solidFill>
                <a:latin typeface="Calibri"/>
              </a:defRPr>
            </a:pPr>
            <a:r>
              <a:t>1. NormalFloat4 (NF4)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Bell-Curve Optimal: </a:t>
            </a:r>
            <a:r>
              <a:rPr b="0" sz="1500">
                <a:solidFill>
                  <a:srgbClr val="334155"/>
                </a:solidFill>
                <a:latin typeface="Calibri"/>
              </a:rPr>
              <a:t>Pretrained weights follow a zero-centered Gaussian N(0, σ²).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16 Quantile Bins: </a:t>
            </a:r>
            <a:r>
              <a:rPr b="0" sz="1500">
                <a:solidFill>
                  <a:srgbClr val="334155"/>
                </a:solidFill>
                <a:latin typeface="Calibri"/>
              </a:rPr>
              <a:t>Places more 4-bit bins near 0 where most weights are concentrated.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Blockwise Scaling: </a:t>
            </a:r>
            <a:r>
              <a:rPr b="0" sz="1500">
                <a:solidFill>
                  <a:srgbClr val="334155"/>
                </a:solidFill>
                <a:latin typeface="Calibri"/>
              </a:rPr>
              <a:t>Normalizes weights in blocks of 64 to isolate outliers.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554480"/>
            <a:ext cx="82296" cy="457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2. Double Quantization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Compressing Scales: </a:t>
            </a:r>
            <a:r>
              <a:rPr b="0" sz="1500">
                <a:solidFill>
                  <a:srgbClr val="334155"/>
                </a:solidFill>
                <a:latin typeface="Calibri"/>
              </a:rPr>
              <a:t>Each block of 64 weights stores a scaling factor.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FP32 → FP8 Scales: </a:t>
            </a:r>
            <a:r>
              <a:rPr b="0" sz="1500">
                <a:solidFill>
                  <a:srgbClr val="334155"/>
                </a:solidFill>
                <a:latin typeface="Calibri"/>
              </a:rPr>
              <a:t>Quantizes the scaling factors themselves into 8-bit floats.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Extra VRAM Saved: </a:t>
            </a:r>
            <a:r>
              <a:rPr b="0" sz="1500">
                <a:solidFill>
                  <a:srgbClr val="334155"/>
                </a:solidFill>
                <a:latin typeface="Calibri"/>
              </a:rPr>
              <a:t>Cuts scale overhead from 0.5 to 0.13 bits per parameter.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82296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3. Mixed-Precision Flow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4-Bit Storage (1.4 GB): </a:t>
            </a:r>
            <a:r>
              <a:rPr b="0" sz="1500">
                <a:solidFill>
                  <a:srgbClr val="334155"/>
                </a:solidFill>
                <a:latin typeface="Calibri"/>
              </a:rPr>
              <a:t>Frozen base weights W_0 stay compressed in GPU RAM.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16-Bit Compute (bf16): </a:t>
            </a:r>
            <a:r>
              <a:rPr b="0" sz="1500">
                <a:solidFill>
                  <a:srgbClr val="334155"/>
                </a:solidFill>
                <a:latin typeface="Calibri"/>
              </a:rPr>
              <a:t>W_0 is dequantized on-the-fly during matrix multiplication.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16-Bit LoRA Updates: </a:t>
            </a:r>
            <a:r>
              <a:rPr b="0" sz="1500">
                <a:solidFill>
                  <a:srgbClr val="334155"/>
                </a:solidFill>
                <a:latin typeface="Calibri"/>
              </a:rPr>
              <a:t>Adapters A &amp; B are never quantized—zero gradient loss!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6. Comparison: 16-bit LoRA vs. 4-bit QLoRA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Hardware requirements and accuracy on Gemma-2-2B-IT (GermEval 2017 Task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7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91153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255"/>
                <a:gridCol w="2468880"/>
                <a:gridCol w="2743200"/>
                <a:gridCol w="2743200"/>
              </a:tblGrid>
              <a:tr h="5791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 Fine-Tuning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16-bit LoRA (lora.yaml)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4-bit QLoRA (qlora.yaml)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Frozen Base Weights (W_0)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None (All updated)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16-bit bfloat16 (5.0 GB)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4-bit NF4 (1.4 GB, -72%)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Trainable Parameters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2,614M (100%)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20.8M (0.79%, r=16)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20.8M (0.79%, r=16)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Peak Training VRAM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&gt; 32.0 GB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7.2 GB (Fits Colab L4/T4)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2.9 GB (Fits 8 GB GPU)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Training Speed per Step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Fastest (No dequant)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~15% slower (NF4 dequant)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Task C2 Micro-F1 (test_syn)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0.8486 Strict / 0.7370 Java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0.8360 Strict / 0.7182 Java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166360"/>
            <a:ext cx="10911535" cy="10972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257800"/>
            <a:ext cx="82296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349240"/>
            <a:ext cx="105000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D97706"/>
                </a:solidFill>
                <a:latin typeface="Calibri"/>
              </a:defRPr>
            </a:pPr>
            <a:r>
              <a:t>One-Line Toggle in Colab Demo (Notebook 11, Step 3)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350">
                <a:solidFill>
                  <a:srgbClr val="0F172A"/>
                </a:solidFill>
                <a:latin typeface="Calibri"/>
              </a:rPr>
              <a:t>• USE_4BIT_QUANTIZATION = True / False: </a:t>
            </a:r>
            <a:r>
              <a:rPr b="0" sz="1350">
                <a:solidFill>
                  <a:srgbClr val="334155"/>
                </a:solidFill>
                <a:latin typeface="Calibri"/>
              </a:rPr>
              <a:t>Switch seamlessly between 4-bit QLoRA (2.9 GB VRAM) and 16-bit LoRA (7.2 GB VRAM) with &lt;1.3% F1 difference.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7. Empirical Results &amp; Key Takeaways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Benchmark results on GermEval 2017 (test_syn) and data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8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6217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 (test_syn)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Valid JSON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C1 Strict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C2 Strict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P0 Minimal Zero-Shot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98.1%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0.555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0.464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P1 Guideline Zero-Shot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99.7%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0.668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P3 Optimized 10-Shot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0.767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0.703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L1 16-bit LoRA (r=16)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0.882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0.849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Q1 4-bit QLoRA (r=16)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0.873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0.836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132320" y="1463040"/>
            <a:ext cx="4389120" cy="329184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82296" cy="3108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8352" y="1645920"/>
            <a:ext cx="3977639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Sample Efficiency (QLoRA)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250 docs (1.3%):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0.648 F1 (beats 2-shot prompting)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1,000 docs (5.1%):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0.701 F1 (matches 10-shot in 1.6 min)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2,000 docs (10.3%):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0.722 F1 (surpasses 10-shot)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19,432 docs (100%):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0.836 F1 (+13.3 F1 over 10-shot)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10881360" cy="13258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074920"/>
            <a:ext cx="82296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166360"/>
            <a:ext cx="10469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Takeaway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400">
                <a:solidFill>
                  <a:srgbClr val="0F172A"/>
                </a:solidFill>
                <a:latin typeface="Calibri"/>
              </a:rPr>
              <a:t>• Data + Adapters + Quantization: </a:t>
            </a:r>
            <a:r>
              <a:rPr b="0" sz="1400">
                <a:solidFill>
                  <a:srgbClr val="334155"/>
                </a:solidFill>
                <a:latin typeface="Calibri"/>
              </a:rPr>
              <a:t>Completion-masked JSON SFT + rank-16 LoRA + 4-bit NF4 quantization delivers +14.5 F1 over 10-shot prompting in under 3 GB of GPU memory.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