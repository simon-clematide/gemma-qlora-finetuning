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480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DD4BF"/>
                </a:solidFill>
                <a:latin typeface="Calibri"/>
              </a:defRPr>
            </a:pPr>
            <a:r>
              <a:t>GERMEVAL 2017 ASPECT-BASED SENTIMENT ANALYSIS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Prompting vs. Fine-Tuning on German Customer Feedback</a:t>
            </a:r>
          </a:p>
          <a:p>
            <a:pPr>
              <a:defRPr sz="1900">
                <a:solidFill>
                  <a:srgbClr val="94A3B8"/>
                </a:solidFill>
                <a:latin typeface="Calibri"/>
              </a:defRPr>
            </a:pPr>
            <a:r>
              <a:t>Understanding the Dataset, the Tasks, and Why Fine-Tuning Beats Prompting by +14.5 F1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023360"/>
            <a:ext cx="324612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THE BENCHMARK</a:t>
            </a:r>
          </a:p>
          <a:p>
            <a:pPr>
              <a:defRPr sz="1450">
                <a:solidFill>
                  <a:srgbClr val="FFFFFF"/>
                </a:solidFill>
                <a:latin typeface="Calibri"/>
              </a:defRPr>
            </a:pPr>
            <a:r>
              <a:t>26,209 German Reviews</a:t>
            </a:r>
            <a:br/>
            <a:r>
              <a:t>19 Aspect Categories × 3 Polarities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023360"/>
            <a:ext cx="324612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THE MAIN RESULT</a:t>
            </a:r>
          </a:p>
          <a:p>
            <a:pPr>
              <a:defRPr sz="1450">
                <a:solidFill>
                  <a:srgbClr val="FFFFFF"/>
                </a:solidFill>
                <a:latin typeface="Calibri"/>
              </a:defRPr>
            </a:pPr>
            <a:r>
              <a:t>Fine-Tuning: 0.849 Micro-F1</a:t>
            </a:r>
            <a:br/>
            <a:r>
              <a:t>10-Shot Prompting: 0.703 Micro-F1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4023360"/>
            <a:ext cx="324612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THE EFFICIENCY</a:t>
            </a:r>
          </a:p>
          <a:p>
            <a:pPr>
              <a:defRPr sz="1450">
                <a:solidFill>
                  <a:srgbClr val="FFFFFF"/>
                </a:solidFill>
                <a:latin typeface="Calibri"/>
              </a:defRPr>
            </a:pPr>
            <a:r>
              <a:t>1,000 Training Examples (~2 min)</a:t>
            </a:r>
            <a:br/>
            <a:r>
              <a:t>Already Match 10-Shot Prompting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1. The Dataset: Real-World German Customer Feedback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26,209 social media, news, and forum posts about Deutsche Bahn (GermEval 2017 Shared Task)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2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937760" cy="489204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470915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4526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Corpus Structure &amp; Challenges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0F172A"/>
                </a:solidFill>
                <a:latin typeface="Calibri"/>
              </a:rPr>
              <a:t>• 4 Official Splits (26,209 Docs): </a:t>
            </a:r>
            <a:r>
              <a:rPr b="0" sz="1400">
                <a:solidFill>
                  <a:srgbClr val="334155"/>
                </a:solidFill>
                <a:latin typeface="Calibri"/>
              </a:rPr>
              <a:t>Train (19,432) | Dev (2,369) | Synchronic Test (2,566) | Diachronic Test (1,842, collected months later).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0F172A"/>
                </a:solidFill>
                <a:latin typeface="Calibri"/>
              </a:rPr>
              <a:t>• Noisy User-Generated Text: </a:t>
            </a:r>
            <a:r>
              <a:rPr b="0" sz="1400">
                <a:solidFill>
                  <a:srgbClr val="334155"/>
                </a:solidFill>
                <a:latin typeface="Calibri"/>
              </a:rPr>
              <a:t>Tweets, forum threads, and news comments with irony, slang, hashtags, and typos.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0F172A"/>
                </a:solidFill>
                <a:latin typeface="Calibri"/>
              </a:rPr>
              <a:t>• 21% Out-of-Domain Noise: </a:t>
            </a:r>
            <a:r>
              <a:rPr b="0" sz="1400">
                <a:solidFill>
                  <a:srgbClr val="334155"/>
                </a:solidFill>
                <a:latin typeface="Calibri"/>
              </a:rPr>
              <a:t>Over a fifth of posts mention trains/stations only in passing (relevance=false) and carry 0 opinions.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0F172A"/>
                </a:solidFill>
                <a:latin typeface="Calibri"/>
              </a:rPr>
              <a:t>• Severe Class Imbalance: </a:t>
            </a:r>
            <a:r>
              <a:rPr b="0" sz="1400">
                <a:solidFill>
                  <a:srgbClr val="334155"/>
                </a:solidFill>
                <a:latin typeface="Calibri"/>
              </a:rPr>
              <a:t>Dominated by Allgemein, Zugfahrt, and Sonstige_Unregelmässigkeiten; rare categories appear in &lt;1% of docs.</a:t>
            </a:r>
          </a:p>
        </p:txBody>
      </p:sp>
      <p:pic>
        <p:nvPicPr>
          <p:cNvPr id="9" name="Picture 8" descr="dataset_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08760"/>
            <a:ext cx="5715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2. The Task: From Unstructured Text to Structured Opinions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What the model receives as input and what it must predict for Task C and Task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4173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10442448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0A5FA"/>
                </a:solidFill>
                <a:latin typeface="Calibri"/>
              </a:defRPr>
            </a:pPr>
            <a:r>
              <a:t>Example Customer Post (Input to Gemma-2-2B-IT)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  <a:latin typeface="Courier New"/>
              </a:defRPr>
            </a:pPr>
            <a:r>
              <a:t>"@DB_Bahn Mal wieder 45 Minuten Verspätung im ICE nach München und das WLAN geht auch nicht! Personal war aber freundlich."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  <a:latin typeface="Courier New"/>
              </a:defRPr>
            </a:pPr>
            <a:r>
              <a:t>("Once again 45 minutes delay on the ICE to Munich and the Wi-Fi isn't working either! Staff was friendly though.")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5257800" cy="324612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82296" cy="306323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46120"/>
            <a:ext cx="4846320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Calibri"/>
              </a:defRPr>
            </a:pPr>
            <a:r>
              <a:t>Task C: Aspect–Polarity Classification (Primary)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Goal: </a:t>
            </a:r>
            <a:r>
              <a:rPr b="0" sz="1350">
                <a:solidFill>
                  <a:srgbClr val="334155"/>
                </a:solidFill>
                <a:latin typeface="Calibri"/>
              </a:rPr>
              <a:t>Identify every (Category:polarity) pair expressed in the post.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19 Categories × 3 Polarities: </a:t>
            </a:r>
            <a:r>
              <a:rPr b="0" sz="1350">
                <a:solidFill>
                  <a:srgbClr val="334155"/>
                </a:solidFill>
                <a:latin typeface="Calibri"/>
              </a:rPr>
              <a:t>e.g., Zugfahrt:negative, Sonstige_Unregelmässigkeiten:negative, Atmosphäre:positive.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Two Sub-Metrics: </a:t>
            </a:r>
            <a:r>
              <a:rPr b="0" sz="1350">
                <a:solidFill>
                  <a:srgbClr val="334155"/>
                </a:solidFill>
                <a:latin typeface="Calibri"/>
              </a:rPr>
              <a:t>Task C1 = Category only | Task C2 = Category + Polarity.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Predicted JSON Output: </a:t>
            </a:r>
            <a:r>
              <a:rPr b="0" sz="1350">
                <a:solidFill>
                  <a:srgbClr val="334155"/>
                </a:solidFill>
                <a:latin typeface="Calibri"/>
              </a:rPr>
              <a:t>{"labels": ["Atmosphäre:positive", "Sonstige_Unregelmässigkeiten:negative", "Zugfahrt:negative"]}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257800" cy="32461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154680"/>
            <a:ext cx="82296" cy="30632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246120"/>
            <a:ext cx="4846320" cy="292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Calibri"/>
              </a:defRPr>
            </a:pPr>
            <a:r>
              <a:t>Task D: Opinion Target Extraction (Span-Level)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Goal: </a:t>
            </a:r>
            <a:r>
              <a:rPr b="0" sz="1350">
                <a:solidFill>
                  <a:srgbClr val="334155"/>
                </a:solidFill>
                <a:latin typeface="Calibri"/>
              </a:rPr>
              <a:t>Extract the exact text phrase (target word/span) that triggered each specific opinion.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Character-Grounded Evaluation: </a:t>
            </a:r>
            <a:r>
              <a:rPr b="0" sz="1350">
                <a:solidFill>
                  <a:srgbClr val="334155"/>
                </a:solidFill>
                <a:latin typeface="Calibri"/>
              </a:rPr>
              <a:t>Evaluated by exact character offset match in the original German sentence.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50">
                <a:solidFill>
                  <a:srgbClr val="0F172A"/>
                </a:solidFill>
                <a:latin typeface="Calibri"/>
              </a:rPr>
              <a:t>• Predicted JSON Output: </a:t>
            </a:r>
            <a:r>
              <a:rPr b="0" sz="1350">
                <a:solidFill>
                  <a:srgbClr val="334155"/>
                </a:solidFill>
                <a:latin typeface="Calibri"/>
              </a:rPr>
              <a:t>{"targets": [{"category": "Zugfahrt", "polarity": "negative", "target": "Verspätung"}, {"category": "Sonstige_Unregelmässigkeiten", "polarity": "negative", "target": "WLAN"}]}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3. The Approaches Compared on Gemma-2-2B-IT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All methods use the exact same 2.6B base model and output the exact same 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4572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34155"/>
                </a:solidFill>
                <a:latin typeface="Calibri"/>
              </a:defRPr>
            </a:pPr>
            <a:r>
              <a:t>1. Zero-Shot Prompting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P0 (Minimal): </a:t>
            </a:r>
            <a:r>
              <a:rPr b="0" sz="1500">
                <a:solidFill>
                  <a:srgbClr val="334155"/>
                </a:solidFill>
                <a:latin typeface="Calibri"/>
              </a:rPr>
              <a:t>Lists only the 19 category names and 3 polarities (~285 tokens/doc).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P1 (Guidelines): </a:t>
            </a:r>
            <a:r>
              <a:rPr b="0" sz="1500">
                <a:solidFill>
                  <a:srgbClr val="334155"/>
                </a:solidFill>
                <a:latin typeface="Calibri"/>
              </a:rPr>
              <a:t>Includes official German definitions for all 19 categories (~660 tokens/doc).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No Training Needed: </a:t>
            </a:r>
            <a:r>
              <a:rPr b="0" sz="1500">
                <a:solidFill>
                  <a:srgbClr val="334155"/>
                </a:solidFill>
                <a:latin typeface="Calibri"/>
              </a:rPr>
              <a:t>Model weights remain 100% untouched.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82296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563EB"/>
                </a:solidFill>
                <a:latin typeface="Calibri"/>
              </a:defRPr>
            </a:pPr>
            <a:r>
              <a:t>2. Few-Shot Prompting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P2 (2, 5, 10-Shot): </a:t>
            </a:r>
            <a:r>
              <a:rPr b="0" sz="1500">
                <a:solidFill>
                  <a:srgbClr val="334155"/>
                </a:solidFill>
                <a:latin typeface="Calibri"/>
              </a:rPr>
              <a:t>Adds labeled German review examples inside the prompt.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P3 (Dev-Optimized 10-Shot): </a:t>
            </a:r>
            <a:r>
              <a:rPr b="0" sz="1500">
                <a:solidFill>
                  <a:srgbClr val="334155"/>
                </a:solidFill>
                <a:latin typeface="Calibri"/>
              </a:rPr>
              <a:t>Selects the 10 most informative examples covering rare categories (~1,760 tokens/doc).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High Inference Cost: </a:t>
            </a:r>
            <a:r>
              <a:rPr b="0" sz="1500">
                <a:solidFill>
                  <a:srgbClr val="334155"/>
                </a:solidFill>
                <a:latin typeface="Calibri"/>
              </a:rPr>
              <a:t>2.7x more input tokens on every test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82296" cy="4572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D9488"/>
                </a:solidFill>
                <a:latin typeface="Calibri"/>
              </a:defRPr>
            </a:pPr>
            <a:r>
              <a:t>3. Fine-Tuning (LoRA/QLoRA)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Trains on 19,432 Docs: </a:t>
            </a:r>
            <a:r>
              <a:rPr b="0" sz="1500">
                <a:solidFill>
                  <a:srgbClr val="334155"/>
                </a:solidFill>
                <a:latin typeface="Calibri"/>
              </a:rPr>
              <a:t>Adapts 0.79% of weights (20.8M params) for 3 epochs.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L1 (16-bit LoRA): </a:t>
            </a:r>
            <a:r>
              <a:rPr b="0" sz="1500">
                <a:solidFill>
                  <a:srgbClr val="334155"/>
                </a:solidFill>
                <a:latin typeface="Calibri"/>
              </a:rPr>
              <a:t>Full 16-bit base weights (7.2 GB VRAM).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Q1 (4-bit QLoRA): </a:t>
            </a:r>
            <a:r>
              <a:rPr b="0" sz="1500">
                <a:solidFill>
                  <a:srgbClr val="334155"/>
                </a:solidFill>
                <a:latin typeface="Calibri"/>
              </a:rPr>
              <a:t>Compressed 4-bit base weights (2.9 GB VRAM — runs on any Colab GPU).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4. Main Results: Task C Aspect–Polarity Classification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Fine-tuning outperforms the best 10-shot prompt by +14.5 Micro-F1 (+19.5 on Official Java-Compat F1)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5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11535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255"/>
                <a:gridCol w="1645920"/>
                <a:gridCol w="1554480"/>
                <a:gridCol w="1645920"/>
                <a:gridCol w="1554480"/>
                <a:gridCol w="1554480"/>
              </a:tblGrid>
              <a:tr h="468629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 (test_syn = 2,566 docs)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C1 Strict F1 (Category)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C2 Strict F1 (Cat+Pol)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C2 Official Java F1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Exact Document Match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Diachronic Test C2 F1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 Minimal Zero-Shot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 Guideline Zero-Shot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0.668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0.587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P2 Few-Shot (2 Examples)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P2 Few-Shot (5 Examples)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0.741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57.3%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P3 Optimized 10-Shot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Q1 4-bit QLoRA Fine-Tuned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0.873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0.836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0.718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75.3%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0.823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L1 16-bit LoRA Fine-Tuned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0.849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0.737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349240"/>
            <a:ext cx="10911535" cy="100584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440679"/>
            <a:ext cx="82296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000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Three Key Findings from the Benchmark Table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250">
                <a:solidFill>
                  <a:srgbClr val="0F172A"/>
                </a:solidFill>
                <a:latin typeface="Calibri"/>
              </a:rPr>
              <a:t>• 1. Guidelines help Zero-Shot (+12.3 F1) and 10-Shot helps further (+11.6 F1), but Prompting plateaus at 0.703. </a:t>
            </a:r>
            <a:r>
              <a:rPr b="0" sz="125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250">
                <a:solidFill>
                  <a:srgbClr val="0F172A"/>
                </a:solidFill>
                <a:latin typeface="Calibri"/>
              </a:rPr>
              <a:t>• 2. Fine-Tuning jumps to 0.849 F1 (predicting the exact full set of opinions on 76.8% of documents vs. 60.0% for 10-shot). </a:t>
            </a:r>
            <a:r>
              <a:rPr b="0" sz="1250">
                <a:solidFill>
                  <a:srgbClr val="3341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5. Sample Efficiency &amp; Per-Category Improvements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How many labeled reviews are needed to beat prompting, and which categories improve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6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arning_curve_task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03520" cy="3064256"/>
          </a:xfrm>
          <a:prstGeom prst="rect">
            <a:avLst/>
          </a:prstGeom>
        </p:spPr>
      </p:pic>
      <p:pic>
        <p:nvPicPr>
          <p:cNvPr id="7" name="Picture 6" descr="error_analysis_delta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03520" cy="33495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892040"/>
            <a:ext cx="5303520" cy="146304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983479"/>
            <a:ext cx="82296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07492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Sample Efficiency (Left Chart)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1,000 docs (5% of train): </a:t>
            </a:r>
            <a:r>
              <a:rPr b="0" sz="1300">
                <a:solidFill>
                  <a:srgbClr val="334155"/>
                </a:solidFill>
                <a:latin typeface="Calibri"/>
              </a:rPr>
              <a:t>Reaches 0.701 F1 in 1.6 GPU minutes — matching 10-shot prompting.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2,000+ docs: </a:t>
            </a:r>
            <a:r>
              <a:rPr b="0" sz="1300">
                <a:solidFill>
                  <a:srgbClr val="334155"/>
                </a:solidFill>
                <a:latin typeface="Calibri"/>
              </a:rPr>
              <a:t>Clearly surpasses all prompting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92040"/>
            <a:ext cx="5303520" cy="146304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983479"/>
            <a:ext cx="82296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5074920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  <a:latin typeface="Calibri"/>
              </a:defRPr>
            </a:pPr>
            <a:r>
              <a:t>Category Gains &amp; Span Extraction (Right Chart)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All 19 Categories Improve: </a:t>
            </a:r>
            <a:r>
              <a:rPr b="0" sz="1300">
                <a:solidFill>
                  <a:srgbClr val="334155"/>
                </a:solidFill>
                <a:latin typeface="Calibri"/>
              </a:rPr>
              <a:t>Largest gains on subtle/implicit categories (Allgemein, Zugfahrt, Sicherheit).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Task D Target Extraction: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Exact span F1 jumps from 0.566 (5-shot) to 0.762 (QLoRA, +19.6 F1).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6. Main Takeaways of the Experiment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When to use Prompting vs. Fine-Tuning for domain-specific classification &amp;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7 /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1153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4572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334155"/>
                </a:solidFill>
                <a:latin typeface="Calibri"/>
              </a:defRPr>
            </a:pPr>
            <a:r>
              <a:t>1. Prompting Hits a Ceiling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Good for Prototyping: </a:t>
            </a:r>
            <a:r>
              <a:rPr b="0" sz="1500">
                <a:solidFill>
                  <a:srgbClr val="334155"/>
                </a:solidFill>
                <a:latin typeface="Calibri"/>
              </a:rPr>
              <a:t>Adding official guidelines (P1) and 10 examples (P3) lifts F1 from 0.464 to 0.703.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Cannot Master Boundaries: </a:t>
            </a:r>
            <a:r>
              <a:rPr b="0" sz="1500">
                <a:solidFill>
                  <a:srgbClr val="334155"/>
                </a:solidFill>
                <a:latin typeface="Calibri"/>
              </a:rPr>
              <a:t>Even 10 examples cannot capture all domain nuances across 19 categories and noisy German posts.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Expensive at Scale: </a:t>
            </a:r>
            <a:r>
              <a:rPr b="0" sz="1500">
                <a:solidFill>
                  <a:srgbClr val="334155"/>
                </a:solidFill>
                <a:latin typeface="Calibri"/>
              </a:rPr>
              <a:t>2.7x higher token cost on every single inference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82296" cy="4572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D9488"/>
                </a:solidFill>
                <a:latin typeface="Calibri"/>
              </a:defRPr>
            </a:pPr>
            <a:r>
              <a:t>2. Fine-Tuning Wins Big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+14.5 F1 Accuracy Jump: </a:t>
            </a:r>
            <a:r>
              <a:rPr b="0" sz="1500">
                <a:solidFill>
                  <a:srgbClr val="334155"/>
                </a:solidFill>
                <a:latin typeface="Calibri"/>
              </a:rPr>
              <a:t>Reaches 0.849 Strict Micro-F1 on Task C2 and +19.6 F1 on Task D span extraction.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High Data Efficiency: </a:t>
            </a:r>
            <a:r>
              <a:rPr b="0" sz="1500">
                <a:solidFill>
                  <a:srgbClr val="334155"/>
                </a:solidFill>
                <a:latin typeface="Calibri"/>
              </a:rPr>
              <a:t>Just 1,000 labeled reviews match 10-shot prompting; 2,000+ beat it decisively.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Robust Over Time: </a:t>
            </a:r>
            <a:r>
              <a:rPr b="0" sz="1500">
                <a:solidFill>
                  <a:srgbClr val="334155"/>
                </a:solidFill>
                <a:latin typeface="Calibri"/>
              </a:rPr>
              <a:t>Maintains 0.823 F1 on the diachronic test set collected months later.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4754880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82296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45920"/>
            <a:ext cx="3063239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D97706"/>
                </a:solidFill>
                <a:latin typeface="Calibri"/>
              </a:defRPr>
            </a:pPr>
            <a:r>
              <a:t>3. 4-Bit QLoRA = Best ROI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98.5% of 16-Bit Accuracy: </a:t>
            </a:r>
            <a:r>
              <a:rPr b="0" sz="1500">
                <a:solidFill>
                  <a:srgbClr val="334155"/>
                </a:solidFill>
                <a:latin typeface="Calibri"/>
              </a:rPr>
              <a:t>4-bit QLoRA achieves 0.836 F1 vs. 0.849 F1 for 16-bit LoRA.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Runs on Any GPU (2.9 GB): </a:t>
            </a:r>
            <a:r>
              <a:rPr b="0" sz="1500">
                <a:solidFill>
                  <a:srgbClr val="334155"/>
                </a:solidFill>
                <a:latin typeface="Calibri"/>
              </a:rPr>
              <a:t>Fits easily on a free Google Colab T4 or L4 GPU.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0F172A"/>
                </a:solidFill>
                <a:latin typeface="Calibri"/>
              </a:rPr>
              <a:t>• Fast &amp; CompactInference: </a:t>
            </a:r>
            <a:r>
              <a:rPr b="0" sz="1500">
                <a:solidFill>
                  <a:srgbClr val="334155"/>
                </a:solidFill>
                <a:latin typeface="Calibri"/>
              </a:rPr>
              <a:t>Uses compact prompts at test time with 100.0% valid JSON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